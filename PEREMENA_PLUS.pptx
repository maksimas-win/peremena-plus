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Начните с короткой паузы. «Звонок прозвенел. Урок закончился. А где можно просто присесть и спокойно поговорить?» Мы предлагаем не очередную вещь для школы, а понятное место для перемены. Наш проект «Перемена+» — десять дополнительных пуфов в школьных коридорах в пределах выделенных 800 евро. Изображение с учениками — созданный визуальный образ проекта, а не фотография нашей школы.
Источники: фотографии школьных коридоров и скриншот выбранного пуфа предоставлены пользователем. Цена 75 евро используется как ориентир. Изображения с учениками — сгенерированный визуальный образ; эскиз расстановки не заменяет замеры и согласование.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школе уже есть диваны — мы это видим на фотографиях и не предлагаем их заменять. Но на перемене нужны разные возможности: ненадолго присесть, поговорить не на ходу, побыть рядом с одноклассниками. Дополнительные места сделают для этого больше пространства. На этом слайде — настоящая фотография нашего коридора. Мы не утверждаем, что пуфы сами по себе повысят оценки или решат все проблемы. Мы предлагаем конкретное, понятное улучшение повседневной школьной жизни.
Источники: фотографии школьных коридоров и скриншот выбранного пуфа предоставлены пользователем. Цена 75 евро используется как ориентир. Изображения с учениками — сгенерированный визуальный образ; эскиз расстановки не заменяет замеры и согласование.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Предлагаем десять пуфов выбранной модели. Это не зона только для нашего класса: пользоваться новыми местами смогут разные ученики. Главное достоинство идеи — она не требует ремонта: мы покупаем готовую мебель и согласовываем её размещение. Цена 75 евро взята с предоставленного скриншота, это ориентир для расчёта, а не подтверждённое коммерческое предложение. До закупки нужно проверить размеры, высоту сиденья, нагрузку, уход, гарантию и соответствие требованиям школы.
Источники: фотографии школьных коридоров и скриншот выбранного пуфа предоставлены пользователем. Цена 75 евро используется как ориентир. Изображения с учениками — сгенерированный визуальный образ; эскиз расстановки не заменяет замеры и согласование.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— эскиз на фотографии нашей школы. На месте столов показаны три пуфа: это только фрагмент идеи, всего в смете десять. Мы намеренно не рисуем дорогой ремонт и не добавляем растения или декор, которых нет в бюджете. Точное количество пуфов в каждой зоне и решение о переносе столов согласуем с администрацией после замеров. Проходы, двери, доступ к шкафчикам, отоплению и оборудованию нельзя перекрывать. Изображение показывает замысел, а не утверждённый план размещения.
Источники: фотографии школьных коридоров и скриншот выбранного пуфа предоставлены пользователем. Цена 75 евро используется как ориентир. Изображения с учениками — сгенерированный визуальный образ; эскиз расстановки не заменяет замеры и согласование.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Десять пуфов по 75 евро — 750 евро. Из выделенных 800 евро остаётся резерв 50 евро. Резерв не нужно тратить просто потому, что он есть: он понадобится только при согласованной необходимости. На скриншоте указана бесплатная доставка, но итоговую цену и условия заказа десяти штук подтверждаем отдельно. Одними и теми же местами в течение дня смогут пользоваться разные ребята: проект не ограничивается десятью пользователями и не принадлежит только одному классу.
Источники: фотографии школьных коридоров и скриншот выбранного пуфа предоставлены пользователем. Цена 75 евро используется как ориентир. Изображения с учениками — сгенерированный визуальный образ; эскиз расстановки не заменяет замеры и согласование.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предлагаем поддержать «Перемену+»: десять новых мест для школьных перемен, 750 евро на покупку и 50 евро резерва. Начинаем с замеров и согласования места. Затем проверяем, подходит ли мебель для школьного использования, в том числе требования к обивке, очистке и безопасности. После закупки договариваемся о бережном использовании и возвращении пуфов на место. Через месяц можно собрать короткую обратную связь учеников. Закончите словами: «Пусть перемена будет не только между уроками. Пусть она будет к лучшему».
Источники: фотографии школьных коридоров и скриншот выбранного пуфа предоставлены пользователем. Цена 75 евро используется как ориентир. Изображения с учениками — сгенерированный визуальный образ; эскиз расстановки не заменяет замеры и согласование.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Визуальный образ проекта, не фотография школ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4000" y="0"/>
            <a:ext cx="5588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62700" y="0"/>
            <a:ext cx="241300" cy="6858000"/>
          </a:xfrm>
          <a:prstGeom prst="rect">
            <a:avLst/>
          </a:prstGeom>
          <a:solidFill>
            <a:srgbClr val="FF7449"/>
          </a:solidFill>
          <a:ln w="6350">
            <a:solidFill>
              <a:srgbClr val="FF7449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58800" y="406400"/>
            <a:ext cx="292100" cy="292100"/>
          </a:xfrm>
          <a:prstGeom prst="roundRect">
            <a:avLst>
              <a:gd name="adj" fmla="val 22000"/>
            </a:avLst>
          </a:prstGeom>
          <a:solidFill>
            <a:srgbClr val="FF7449"/>
          </a:solidFill>
          <a:ln w="6350">
            <a:solidFill>
              <a:srgbClr val="FF7449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6430" y="476504"/>
            <a:ext cx="40894" cy="151892"/>
          </a:xfrm>
          <a:prstGeom prst="roundRect">
            <a:avLst>
              <a:gd name="adj" fmla="val 21429"/>
            </a:avLst>
          </a:prstGeom>
          <a:solidFill>
            <a:srgbClr val="142238"/>
          </a:solidFill>
          <a:ln w="635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5297" y="476504"/>
            <a:ext cx="40894" cy="151892"/>
          </a:xfrm>
          <a:prstGeom prst="roundRect">
            <a:avLst>
              <a:gd name="adj" fmla="val 21429"/>
            </a:avLst>
          </a:prstGeom>
          <a:solidFill>
            <a:srgbClr val="142238"/>
          </a:solidFill>
          <a:ln w="635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8850" y="438150"/>
            <a:ext cx="260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931"/>
              </a:lnSpc>
              <a:buNone/>
            </a:pPr>
            <a:r>
              <a:rPr lang="ru-RU" altLang="en-US" sz="145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ПЕРЕМЕНА+</a:t>
            </a:r>
            <a:endParaRPr lang="ru-RU" sz="1450" dirty="0"/>
          </a:p>
        </p:txBody>
      </p:sp>
      <p:sp>
        <p:nvSpPr>
          <p:cNvPr id="8" name="Text 5"/>
          <p:cNvSpPr/>
          <p:nvPr/>
        </p:nvSpPr>
        <p:spPr>
          <a:xfrm>
            <a:off x="10731500" y="457200"/>
            <a:ext cx="889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826"/>
              </a:lnSpc>
              <a:buNone/>
            </a:pPr>
            <a:r>
              <a:rPr lang="ru-RU" altLang="en-US" sz="115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06</a:t>
            </a:r>
            <a:endParaRPr lang="ru-RU" sz="1150" dirty="0"/>
          </a:p>
        </p:txBody>
      </p:sp>
      <p:sp>
        <p:nvSpPr>
          <p:cNvPr id="9" name="Shape 6"/>
          <p:cNvSpPr/>
          <p:nvPr/>
        </p:nvSpPr>
        <p:spPr>
          <a:xfrm>
            <a:off x="10414000" y="311150"/>
            <a:ext cx="1327150" cy="488950"/>
          </a:xfrm>
          <a:prstGeom prst="roundRect">
            <a:avLst>
              <a:gd name="adj" fmla="val 49351"/>
            </a:avLst>
          </a:prstGeom>
          <a:solidFill>
            <a:srgbClr val="142238">
              <a:alpha val="84000"/>
            </a:srgbClr>
          </a:solidFill>
          <a:ln w="635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98150" y="444500"/>
            <a:ext cx="92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917"/>
              </a:lnSpc>
              <a:buNone/>
            </a:pPr>
            <a:r>
              <a:rPr lang="ru-RU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06</a:t>
            </a:r>
            <a:endParaRPr lang="ru-RU" sz="1200" dirty="0"/>
          </a:p>
        </p:txBody>
      </p:sp>
      <p:sp>
        <p:nvSpPr>
          <p:cNvPr id="11" name="Text 8"/>
          <p:cNvSpPr/>
          <p:nvPr/>
        </p:nvSpPr>
        <p:spPr>
          <a:xfrm>
            <a:off x="558800" y="1352550"/>
            <a:ext cx="5842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17"/>
              </a:lnSpc>
              <a:buNone/>
            </a:pPr>
            <a:r>
              <a:rPr lang="ru-RU" altLang="en-US" sz="580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ЗВОНОК</a:t>
            </a:r>
            <a:endParaRPr lang="ru-RU" sz="5800" dirty="0"/>
          </a:p>
        </p:txBody>
      </p:sp>
      <p:sp>
        <p:nvSpPr>
          <p:cNvPr id="12" name="Text 9"/>
          <p:cNvSpPr/>
          <p:nvPr/>
        </p:nvSpPr>
        <p:spPr>
          <a:xfrm>
            <a:off x="558800" y="2197100"/>
            <a:ext cx="59436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525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ПРОЗВЕНЕЛ.</a:t>
            </a:r>
            <a:endParaRPr lang="ru-RU" sz="5250" dirty="0"/>
          </a:p>
        </p:txBody>
      </p:sp>
      <p:sp>
        <p:nvSpPr>
          <p:cNvPr id="13" name="Text 10"/>
          <p:cNvSpPr/>
          <p:nvPr/>
        </p:nvSpPr>
        <p:spPr>
          <a:xfrm>
            <a:off x="558800" y="3219450"/>
            <a:ext cx="5689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969"/>
              </a:lnSpc>
              <a:buNone/>
            </a:pPr>
            <a:r>
              <a:rPr lang="ru-RU" altLang="en-US" sz="6400" b="1" dirty="0">
                <a:solidFill>
                  <a:srgbClr val="FF7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</a:t>
            </a:r>
            <a:endParaRPr lang="ru-RU" sz="6400" dirty="0"/>
          </a:p>
        </p:txBody>
      </p:sp>
      <p:sp>
        <p:nvSpPr>
          <p:cNvPr id="14" name="Text 11"/>
          <p:cNvSpPr/>
          <p:nvPr/>
        </p:nvSpPr>
        <p:spPr>
          <a:xfrm>
            <a:off x="558800" y="4083050"/>
            <a:ext cx="5873750" cy="755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500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ВЫДОХНУТЬ?</a:t>
            </a:r>
            <a:endParaRPr lang="ru-RU" sz="5000" dirty="0"/>
          </a:p>
        </p:txBody>
      </p:sp>
      <p:sp>
        <p:nvSpPr>
          <p:cNvPr id="15" name="Shape 12"/>
          <p:cNvSpPr/>
          <p:nvPr/>
        </p:nvSpPr>
        <p:spPr>
          <a:xfrm>
            <a:off x="565150" y="5010150"/>
            <a:ext cx="971550" cy="69850"/>
          </a:xfrm>
          <a:prstGeom prst="rect">
            <a:avLst/>
          </a:prstGeom>
          <a:solidFill>
            <a:srgbClr val="335CFF"/>
          </a:solidFill>
          <a:ln w="6350">
            <a:solidFill>
              <a:srgbClr val="335C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8800" y="5270500"/>
            <a:ext cx="546735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949"/>
              </a:lnSpc>
              <a:buNone/>
            </a:pPr>
            <a:r>
              <a:rPr lang="ru-RU" altLang="en-US" sz="1950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новых мест для отдыха</a:t>
            </a:r>
            <a:endParaRPr lang="ru-RU" sz="1950" dirty="0"/>
          </a:p>
          <a:p>
            <a:pPr algn="l" indent="0" marL="0">
              <a:lnSpc>
                <a:spcPct val="117949"/>
              </a:lnSpc>
              <a:buNone/>
            </a:pPr>
            <a:r>
              <a:rPr lang="ru-RU" altLang="en-US" sz="1950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 уроками.</a:t>
            </a:r>
            <a:endParaRPr lang="ru-RU" sz="1950" dirty="0"/>
          </a:p>
        </p:txBody>
      </p:sp>
      <p:sp>
        <p:nvSpPr>
          <p:cNvPr id="17" name="Shape 14"/>
          <p:cNvSpPr/>
          <p:nvPr/>
        </p:nvSpPr>
        <p:spPr>
          <a:xfrm>
            <a:off x="558800" y="6089650"/>
            <a:ext cx="5099050" cy="393700"/>
          </a:xfrm>
          <a:prstGeom prst="roundRect">
            <a:avLst>
              <a:gd name="adj" fmla="val 50000"/>
            </a:avLst>
          </a:prstGeom>
          <a:solidFill>
            <a:srgbClr val="335CFF"/>
          </a:solidFill>
          <a:ln w="6350">
            <a:solidFill>
              <a:srgbClr val="335C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8500" y="6185852"/>
            <a:ext cx="481965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148"/>
              </a:lnSpc>
              <a:buNone/>
            </a:pPr>
            <a:r>
              <a:rPr lang="ru-RU" alt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КЛАССА · БЮДЖЕТ ДО 800 €</a:t>
            </a:r>
            <a:endParaRPr lang="ru-RU" sz="1350" dirty="0"/>
          </a:p>
        </p:txBody>
      </p:sp>
      <p:sp>
        <p:nvSpPr>
          <p:cNvPr id="19" name="Shape 16"/>
          <p:cNvSpPr/>
          <p:nvPr/>
        </p:nvSpPr>
        <p:spPr>
          <a:xfrm>
            <a:off x="7035800" y="5911850"/>
            <a:ext cx="4146550" cy="501650"/>
          </a:xfrm>
          <a:prstGeom prst="roundRect">
            <a:avLst>
              <a:gd name="adj" fmla="val 49367"/>
            </a:avLst>
          </a:prstGeom>
          <a:solidFill>
            <a:srgbClr val="142238">
              <a:alpha val="88000"/>
            </a:srgbClr>
          </a:solidFill>
          <a:ln w="635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39000" y="6038850"/>
            <a:ext cx="37338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879"/>
              </a:lnSpc>
              <a:buNone/>
            </a:pPr>
            <a:r>
              <a:rPr lang="ru-RU" alt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ПРИСЯДЬ. ПОГОВОРИМ.</a:t>
            </a:r>
            <a:endParaRPr lang="ru-RU" sz="1650" dirty="0"/>
          </a:p>
        </p:txBody>
      </p:sp>
      <p:sp>
        <p:nvSpPr>
          <p:cNvPr id="21" name="Text 18"/>
          <p:cNvSpPr/>
          <p:nvPr/>
        </p:nvSpPr>
        <p:spPr>
          <a:xfrm>
            <a:off x="6972300" y="6604000"/>
            <a:ext cx="4419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895"/>
              </a:lnSpc>
              <a:buNone/>
            </a:pPr>
            <a:r>
              <a:rPr lang="ru-RU" alt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Визуальный образ проекта</a:t>
            </a:r>
            <a:endParaRPr lang="ru-RU" sz="950" dirty="0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800" y="406400"/>
            <a:ext cx="292100" cy="292100"/>
          </a:xfrm>
          <a:prstGeom prst="roundRect">
            <a:avLst>
              <a:gd name="adj" fmla="val 22000"/>
            </a:avLst>
          </a:prstGeom>
          <a:solidFill>
            <a:srgbClr val="FF7449"/>
          </a:solidFill>
          <a:ln w="6350">
            <a:solidFill>
              <a:srgbClr val="FF744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6430" y="476504"/>
            <a:ext cx="40894" cy="151892"/>
          </a:xfrm>
          <a:prstGeom prst="roundRect">
            <a:avLst>
              <a:gd name="adj" fmla="val 21429"/>
            </a:avLst>
          </a:prstGeom>
          <a:solidFill>
            <a:srgbClr val="142238"/>
          </a:solidFill>
          <a:ln w="635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5297" y="476504"/>
            <a:ext cx="40894" cy="151892"/>
          </a:xfrm>
          <a:prstGeom prst="roundRect">
            <a:avLst>
              <a:gd name="adj" fmla="val 21429"/>
            </a:avLst>
          </a:prstGeom>
          <a:solidFill>
            <a:srgbClr val="142238"/>
          </a:solidFill>
          <a:ln w="635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8850" y="438150"/>
            <a:ext cx="260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931"/>
              </a:lnSpc>
              <a:buNone/>
            </a:pPr>
            <a:r>
              <a:rPr lang="ru-RU" altLang="en-US" sz="145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ПЕРЕМЕНА+</a:t>
            </a:r>
            <a:endParaRPr lang="ru-RU" sz="1450" dirty="0"/>
          </a:p>
        </p:txBody>
      </p:sp>
      <p:sp>
        <p:nvSpPr>
          <p:cNvPr id="6" name="Text 4"/>
          <p:cNvSpPr/>
          <p:nvPr/>
        </p:nvSpPr>
        <p:spPr>
          <a:xfrm>
            <a:off x="10731500" y="457200"/>
            <a:ext cx="889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826"/>
              </a:lnSpc>
              <a:buNone/>
            </a:pPr>
            <a:r>
              <a:rPr lang="ru-RU" altLang="en-US" sz="115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06</a:t>
            </a:r>
            <a:endParaRPr lang="ru-RU" sz="1150" dirty="0"/>
          </a:p>
        </p:txBody>
      </p:sp>
      <p:sp>
        <p:nvSpPr>
          <p:cNvPr id="7" name="Text 5"/>
          <p:cNvSpPr/>
          <p:nvPr/>
        </p:nvSpPr>
        <p:spPr>
          <a:xfrm>
            <a:off x="558800" y="1066800"/>
            <a:ext cx="11239500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981"/>
              </a:lnSpc>
              <a:buNone/>
            </a:pPr>
            <a:r>
              <a:rPr lang="ru-RU" altLang="en-US" sz="520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УРОКА — КЛАСС.</a:t>
            </a:r>
            <a:endParaRPr lang="ru-RU" sz="5200" dirty="0"/>
          </a:p>
        </p:txBody>
      </p:sp>
      <p:sp>
        <p:nvSpPr>
          <p:cNvPr id="8" name="Text 6"/>
          <p:cNvSpPr/>
          <p:nvPr/>
        </p:nvSpPr>
        <p:spPr>
          <a:xfrm>
            <a:off x="558800" y="1816100"/>
            <a:ext cx="11239500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981"/>
              </a:lnSpc>
              <a:buNone/>
            </a:pPr>
            <a:r>
              <a:rPr lang="ru-RU" altLang="en-US" sz="5200" b="1" dirty="0">
                <a:solidFill>
                  <a:srgbClr val="33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ДЛЯ ПЕРЕМЕНЫ?</a:t>
            </a:r>
            <a:endParaRPr lang="ru-RU" sz="5200" dirty="0"/>
          </a:p>
        </p:txBody>
      </p:sp>
      <p:pic>
        <p:nvPicPr>
          <p:cNvPr id="9" name="Image 0" descr="Изображение проект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800" y="2978150"/>
            <a:ext cx="6400800" cy="295275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11200" y="3117850"/>
            <a:ext cx="2863850" cy="355600"/>
          </a:xfrm>
          <a:prstGeom prst="roundRect">
            <a:avLst>
              <a:gd name="adj" fmla="val 50000"/>
            </a:avLst>
          </a:prstGeom>
          <a:solidFill>
            <a:srgbClr val="142238"/>
          </a:solidFill>
          <a:ln w="635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900" y="3205480"/>
            <a:ext cx="258445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917"/>
              </a:lnSpc>
              <a:buNone/>
            </a:pPr>
            <a:r>
              <a:rPr lang="ru-RU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НАША ШКОЛА · СЕЙЧАС</a:t>
            </a:r>
            <a:endParaRPr lang="ru-RU" sz="1200" dirty="0"/>
          </a:p>
        </p:txBody>
      </p:sp>
      <p:sp>
        <p:nvSpPr>
          <p:cNvPr id="12" name="Shape 9"/>
          <p:cNvSpPr/>
          <p:nvPr/>
        </p:nvSpPr>
        <p:spPr>
          <a:xfrm>
            <a:off x="7366000" y="3067050"/>
            <a:ext cx="406400" cy="406400"/>
          </a:xfrm>
          <a:prstGeom prst="roundRect">
            <a:avLst>
              <a:gd name="adj" fmla="val 28125"/>
            </a:avLst>
          </a:prstGeom>
          <a:solidFill>
            <a:srgbClr val="FF7449"/>
          </a:solidFill>
          <a:ln w="6350">
            <a:solidFill>
              <a:srgbClr val="FF7449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35850" y="3175000"/>
            <a:ext cx="266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7917"/>
              </a:lnSpc>
              <a:buNone/>
            </a:pPr>
            <a:r>
              <a:rPr lang="ru-RU" altLang="en-US" sz="120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ru-RU" sz="1200" dirty="0"/>
          </a:p>
        </p:txBody>
      </p:sp>
      <p:sp>
        <p:nvSpPr>
          <p:cNvPr id="14" name="Text 11"/>
          <p:cNvSpPr/>
          <p:nvPr/>
        </p:nvSpPr>
        <p:spPr>
          <a:xfrm>
            <a:off x="8001000" y="3035300"/>
            <a:ext cx="3632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70"/>
              </a:lnSpc>
              <a:buNone/>
            </a:pPr>
            <a:r>
              <a:rPr lang="ru-RU" altLang="en-US" sz="285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Присесть.</a:t>
            </a:r>
            <a:endParaRPr lang="ru-RU" sz="2850" dirty="0"/>
          </a:p>
        </p:txBody>
      </p:sp>
      <p:sp>
        <p:nvSpPr>
          <p:cNvPr id="15" name="Text 12"/>
          <p:cNvSpPr/>
          <p:nvPr/>
        </p:nvSpPr>
        <p:spPr>
          <a:xfrm>
            <a:off x="8013700" y="3543300"/>
            <a:ext cx="3606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931"/>
              </a:lnSpc>
              <a:buNone/>
            </a:pPr>
            <a:r>
              <a:rPr lang="ru-RU" altLang="en-US" sz="1450" dirty="0">
                <a:solidFill>
                  <a:srgbClr val="6974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короткой перемене.</a:t>
            </a:r>
            <a:endParaRPr lang="ru-RU" sz="1450" dirty="0"/>
          </a:p>
        </p:txBody>
      </p:sp>
      <p:sp>
        <p:nvSpPr>
          <p:cNvPr id="16" name="Shape 13"/>
          <p:cNvSpPr/>
          <p:nvPr/>
        </p:nvSpPr>
        <p:spPr>
          <a:xfrm>
            <a:off x="7366000" y="4025900"/>
            <a:ext cx="406400" cy="406400"/>
          </a:xfrm>
          <a:prstGeom prst="roundRect">
            <a:avLst>
              <a:gd name="adj" fmla="val 28125"/>
            </a:avLst>
          </a:prstGeom>
          <a:solidFill>
            <a:srgbClr val="335CFF"/>
          </a:solidFill>
          <a:ln w="6350">
            <a:solidFill>
              <a:srgbClr val="335C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35850" y="4133850"/>
            <a:ext cx="266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7917"/>
              </a:lnSpc>
              <a:buNone/>
            </a:pPr>
            <a:r>
              <a:rPr lang="ru-RU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ru-RU" sz="1200" dirty="0"/>
          </a:p>
        </p:txBody>
      </p:sp>
      <p:sp>
        <p:nvSpPr>
          <p:cNvPr id="18" name="Text 15"/>
          <p:cNvSpPr/>
          <p:nvPr/>
        </p:nvSpPr>
        <p:spPr>
          <a:xfrm>
            <a:off x="8001000" y="3994150"/>
            <a:ext cx="3632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70"/>
              </a:lnSpc>
              <a:buNone/>
            </a:pPr>
            <a:r>
              <a:rPr lang="ru-RU" altLang="en-US" sz="285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Поговорить.</a:t>
            </a:r>
            <a:endParaRPr lang="ru-RU" sz="2850" dirty="0"/>
          </a:p>
        </p:txBody>
      </p:sp>
      <p:sp>
        <p:nvSpPr>
          <p:cNvPr id="19" name="Text 16"/>
          <p:cNvSpPr/>
          <p:nvPr/>
        </p:nvSpPr>
        <p:spPr>
          <a:xfrm>
            <a:off x="8013700" y="4502150"/>
            <a:ext cx="3606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931"/>
              </a:lnSpc>
              <a:buNone/>
            </a:pPr>
            <a:r>
              <a:rPr lang="ru-RU" altLang="en-US" sz="1450" dirty="0">
                <a:solidFill>
                  <a:srgbClr val="6974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на ходу и не у двери.</a:t>
            </a:r>
            <a:endParaRPr lang="ru-RU" sz="1450" dirty="0"/>
          </a:p>
        </p:txBody>
      </p:sp>
      <p:sp>
        <p:nvSpPr>
          <p:cNvPr id="20" name="Shape 17"/>
          <p:cNvSpPr/>
          <p:nvPr/>
        </p:nvSpPr>
        <p:spPr>
          <a:xfrm>
            <a:off x="7366000" y="4984750"/>
            <a:ext cx="406400" cy="406400"/>
          </a:xfrm>
          <a:prstGeom prst="roundRect">
            <a:avLst>
              <a:gd name="adj" fmla="val 28125"/>
            </a:avLst>
          </a:prstGeom>
          <a:solidFill>
            <a:srgbClr val="E5FF7A"/>
          </a:solidFill>
          <a:ln w="6350">
            <a:solidFill>
              <a:srgbClr val="E5FF7A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35850" y="5092700"/>
            <a:ext cx="266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7917"/>
              </a:lnSpc>
              <a:buNone/>
            </a:pPr>
            <a:r>
              <a:rPr lang="ru-RU" altLang="en-US" sz="120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ru-RU" sz="1200" dirty="0"/>
          </a:p>
        </p:txBody>
      </p:sp>
      <p:sp>
        <p:nvSpPr>
          <p:cNvPr id="22" name="Text 19"/>
          <p:cNvSpPr/>
          <p:nvPr/>
        </p:nvSpPr>
        <p:spPr>
          <a:xfrm>
            <a:off x="8001000" y="4953000"/>
            <a:ext cx="3632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70"/>
              </a:lnSpc>
              <a:buNone/>
            </a:pPr>
            <a:r>
              <a:rPr lang="ru-RU" altLang="en-US" sz="285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Побыть рядом.</a:t>
            </a:r>
            <a:endParaRPr lang="ru-RU" sz="2850" dirty="0"/>
          </a:p>
        </p:txBody>
      </p:sp>
      <p:sp>
        <p:nvSpPr>
          <p:cNvPr id="23" name="Text 20"/>
          <p:cNvSpPr/>
          <p:nvPr/>
        </p:nvSpPr>
        <p:spPr>
          <a:xfrm>
            <a:off x="8013700" y="5461000"/>
            <a:ext cx="3606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931"/>
              </a:lnSpc>
              <a:buNone/>
            </a:pPr>
            <a:r>
              <a:rPr lang="ru-RU" altLang="en-US" sz="1450" dirty="0">
                <a:solidFill>
                  <a:srgbClr val="6974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хочется компании.</a:t>
            </a:r>
            <a:endParaRPr lang="ru-RU" sz="1450" dirty="0"/>
          </a:p>
        </p:txBody>
      </p:sp>
      <p:sp>
        <p:nvSpPr>
          <p:cNvPr id="24" name="Shape 21"/>
          <p:cNvSpPr/>
          <p:nvPr/>
        </p:nvSpPr>
        <p:spPr>
          <a:xfrm>
            <a:off x="558800" y="6172200"/>
            <a:ext cx="11074400" cy="25400"/>
          </a:xfrm>
          <a:prstGeom prst="rect">
            <a:avLst/>
          </a:prstGeom>
          <a:solidFill>
            <a:srgbClr val="142238">
              <a:alpha val="12000"/>
            </a:srgbClr>
          </a:solidFill>
          <a:ln w="635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8800" y="6330950"/>
            <a:ext cx="107569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125"/>
              </a:lnSpc>
              <a:buNone/>
            </a:pPr>
            <a:r>
              <a:rPr lang="ru-RU" altLang="en-US" sz="160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Диваны уже есть. Добавляем места — не переделываем школу.</a:t>
            </a:r>
            <a:endParaRPr lang="ru-RU" sz="1600" dirty="0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74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800" y="406400"/>
            <a:ext cx="292100" cy="292100"/>
          </a:xfrm>
          <a:prstGeom prst="roundRect">
            <a:avLst>
              <a:gd name="adj" fmla="val 22000"/>
            </a:avLst>
          </a:prstGeom>
          <a:solidFill>
            <a:srgbClr val="FF7449"/>
          </a:solidFill>
          <a:ln w="6350">
            <a:solidFill>
              <a:srgbClr val="FF744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6430" y="476504"/>
            <a:ext cx="40894" cy="151892"/>
          </a:xfrm>
          <a:prstGeom prst="roundRect">
            <a:avLst>
              <a:gd name="adj" fmla="val 21429"/>
            </a:avLst>
          </a:prstGeom>
          <a:solidFill>
            <a:srgbClr val="142238"/>
          </a:solidFill>
          <a:ln w="635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5297" y="476504"/>
            <a:ext cx="40894" cy="151892"/>
          </a:xfrm>
          <a:prstGeom prst="roundRect">
            <a:avLst>
              <a:gd name="adj" fmla="val 21429"/>
            </a:avLst>
          </a:prstGeom>
          <a:solidFill>
            <a:srgbClr val="142238"/>
          </a:solidFill>
          <a:ln w="635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8850" y="438150"/>
            <a:ext cx="260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931"/>
              </a:lnSpc>
              <a:buNone/>
            </a:pPr>
            <a:r>
              <a:rPr lang="ru-RU" altLang="en-US" sz="145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ПЕРЕМЕНА+</a:t>
            </a:r>
            <a:endParaRPr lang="ru-RU" sz="1450" dirty="0"/>
          </a:p>
        </p:txBody>
      </p:sp>
      <p:sp>
        <p:nvSpPr>
          <p:cNvPr id="6" name="Text 4"/>
          <p:cNvSpPr/>
          <p:nvPr/>
        </p:nvSpPr>
        <p:spPr>
          <a:xfrm>
            <a:off x="10731500" y="457200"/>
            <a:ext cx="889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826"/>
              </a:lnSpc>
              <a:buNone/>
            </a:pPr>
            <a:r>
              <a:rPr lang="ru-RU" altLang="en-US" sz="115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06</a:t>
            </a:r>
            <a:endParaRPr lang="ru-RU" sz="1150" dirty="0"/>
          </a:p>
        </p:txBody>
      </p:sp>
      <p:sp>
        <p:nvSpPr>
          <p:cNvPr id="7" name="Shape 5"/>
          <p:cNvSpPr/>
          <p:nvPr/>
        </p:nvSpPr>
        <p:spPr>
          <a:xfrm rot="-1080000">
            <a:off x="6362700" y="1358900"/>
            <a:ext cx="5130800" cy="39497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FF9F0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320000">
            <a:off x="6991350" y="895350"/>
            <a:ext cx="3886200" cy="488950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9F0">
                <a:alpha val="3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8800" y="1301750"/>
            <a:ext cx="59309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980"/>
              </a:lnSpc>
              <a:buNone/>
            </a:pPr>
            <a:r>
              <a:rPr lang="ru-RU" altLang="en-US" sz="495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МАЛЕНЬКИЙ</a:t>
            </a:r>
            <a:endParaRPr lang="ru-RU" sz="4950" dirty="0"/>
          </a:p>
        </p:txBody>
      </p:sp>
      <p:sp>
        <p:nvSpPr>
          <p:cNvPr id="10" name="Text 8"/>
          <p:cNvSpPr/>
          <p:nvPr/>
        </p:nvSpPr>
        <p:spPr>
          <a:xfrm>
            <a:off x="558800" y="1987550"/>
            <a:ext cx="5187950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969"/>
              </a:lnSpc>
              <a:buNone/>
            </a:pPr>
            <a:r>
              <a:rPr lang="ru-RU" altLang="en-US" sz="640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ПУФ.</a:t>
            </a:r>
            <a:endParaRPr lang="ru-RU" sz="6400" dirty="0"/>
          </a:p>
        </p:txBody>
      </p:sp>
      <p:sp>
        <p:nvSpPr>
          <p:cNvPr id="11" name="Text 9"/>
          <p:cNvSpPr/>
          <p:nvPr/>
        </p:nvSpPr>
        <p:spPr>
          <a:xfrm>
            <a:off x="558800" y="2984500"/>
            <a:ext cx="5835650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961"/>
              </a:lnSpc>
              <a:buNone/>
            </a:pPr>
            <a:r>
              <a:rPr lang="ru-RU" altLang="en-US" sz="5150" b="1" dirty="0">
                <a:solidFill>
                  <a:srgbClr val="FFF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БОЛЬШАЯ</a:t>
            </a:r>
            <a:endParaRPr lang="ru-RU" sz="5150" dirty="0"/>
          </a:p>
        </p:txBody>
      </p:sp>
      <p:sp>
        <p:nvSpPr>
          <p:cNvPr id="12" name="Text 10"/>
          <p:cNvSpPr/>
          <p:nvPr/>
        </p:nvSpPr>
        <p:spPr>
          <a:xfrm>
            <a:off x="558800" y="3708400"/>
            <a:ext cx="63119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20"/>
              </a:lnSpc>
              <a:buNone/>
            </a:pPr>
            <a:r>
              <a:rPr lang="ru-RU" altLang="en-US" sz="5050" b="1" dirty="0">
                <a:solidFill>
                  <a:srgbClr val="FFF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ПЕРЕМЕНА.</a:t>
            </a:r>
            <a:endParaRPr lang="ru-RU" sz="5050" dirty="0"/>
          </a:p>
        </p:txBody>
      </p:sp>
      <p:pic>
        <p:nvPicPr>
          <p:cNvPr id="13" name="Image 0" descr="Изображение проект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4400" y="4546600"/>
            <a:ext cx="5600700" cy="1219200"/>
          </a:xfrm>
          <a:prstGeom prst="rect">
            <a:avLst/>
          </a:prstGeom>
        </p:spPr>
      </p:pic>
      <p:pic>
        <p:nvPicPr>
          <p:cNvPr id="14" name="Image 1" descr="Изображение проект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0" y="1968500"/>
            <a:ext cx="5600700" cy="35179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0096500" y="990600"/>
            <a:ext cx="1492250" cy="1492250"/>
          </a:xfrm>
          <a:prstGeom prst="ellipse">
            <a:avLst/>
          </a:prstGeom>
          <a:solidFill>
            <a:srgbClr val="335CFF"/>
          </a:solidFill>
          <a:ln w="6350">
            <a:solidFill>
              <a:srgbClr val="335CFF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204450" y="1333500"/>
            <a:ext cx="127635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ru-RU" alt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75 €*</a:t>
            </a:r>
            <a:endParaRPr lang="ru-RU" sz="3500" dirty="0"/>
          </a:p>
        </p:txBody>
      </p:sp>
      <p:sp>
        <p:nvSpPr>
          <p:cNvPr id="17" name="Text 13"/>
          <p:cNvSpPr/>
          <p:nvPr/>
        </p:nvSpPr>
        <p:spPr>
          <a:xfrm>
            <a:off x="10217150" y="1917700"/>
            <a:ext cx="1257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182"/>
              </a:lnSpc>
              <a:buNone/>
            </a:pPr>
            <a:r>
              <a:rPr lang="ru-RU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ОДИН ПУФ</a:t>
            </a:r>
            <a:endParaRPr lang="ru-RU" sz="1100" dirty="0"/>
          </a:p>
        </p:txBody>
      </p:sp>
      <p:sp>
        <p:nvSpPr>
          <p:cNvPr id="18" name="Shape 14"/>
          <p:cNvSpPr/>
          <p:nvPr/>
        </p:nvSpPr>
        <p:spPr>
          <a:xfrm>
            <a:off x="558800" y="5200650"/>
            <a:ext cx="3048000" cy="482600"/>
          </a:xfrm>
          <a:prstGeom prst="roundRect">
            <a:avLst>
              <a:gd name="adj" fmla="val 50000"/>
            </a:avLst>
          </a:prstGeom>
          <a:solidFill>
            <a:srgbClr val="142238"/>
          </a:solidFill>
          <a:ln w="635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98500" y="5330825"/>
            <a:ext cx="2768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НОВЫХ МЕСТ</a:t>
            </a:r>
            <a:endParaRPr lang="ru-RU" sz="1500" dirty="0"/>
          </a:p>
        </p:txBody>
      </p:sp>
      <p:sp>
        <p:nvSpPr>
          <p:cNvPr id="20" name="Shape 16"/>
          <p:cNvSpPr/>
          <p:nvPr/>
        </p:nvSpPr>
        <p:spPr>
          <a:xfrm>
            <a:off x="3759200" y="5200650"/>
            <a:ext cx="2571750" cy="482600"/>
          </a:xfrm>
          <a:prstGeom prst="roundRect">
            <a:avLst>
              <a:gd name="adj" fmla="val 50000"/>
            </a:avLst>
          </a:prstGeom>
          <a:solidFill>
            <a:srgbClr val="FFF9F0"/>
          </a:solidFill>
          <a:ln w="6350">
            <a:solidFill>
              <a:srgbClr val="FFF9F0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898900" y="5330825"/>
            <a:ext cx="2292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150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РЕМОНТА</a:t>
            </a:r>
            <a:endParaRPr lang="ru-RU" sz="1500" dirty="0"/>
          </a:p>
        </p:txBody>
      </p:sp>
      <p:sp>
        <p:nvSpPr>
          <p:cNvPr id="22" name="Text 18"/>
          <p:cNvSpPr/>
          <p:nvPr/>
        </p:nvSpPr>
        <p:spPr>
          <a:xfrm>
            <a:off x="558800" y="5949950"/>
            <a:ext cx="10985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949"/>
              </a:lnSpc>
              <a:buNone/>
            </a:pPr>
            <a:r>
              <a:rPr lang="ru-RU" altLang="en-US" sz="195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Общее пространство — для разных классов.</a:t>
            </a:r>
            <a:endParaRPr lang="ru-RU" sz="1950" dirty="0"/>
          </a:p>
        </p:txBody>
      </p:sp>
      <p:sp>
        <p:nvSpPr>
          <p:cNvPr id="23" name="Text 19"/>
          <p:cNvSpPr/>
          <p:nvPr/>
        </p:nvSpPr>
        <p:spPr>
          <a:xfrm>
            <a:off x="558800" y="6565900"/>
            <a:ext cx="1016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778"/>
              </a:lnSpc>
              <a:buNone/>
            </a:pPr>
            <a:r>
              <a:rPr lang="ru-RU" altLang="en-US" sz="900" dirty="0">
                <a:solidFill>
                  <a:srgbClr val="6974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75 € — цена на предоставленном скриншоте. Параметры мебели и условия заказа проверяем до покупки.</a:t>
            </a:r>
            <a:endParaRPr lang="ru-RU" sz="900" dirty="0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Эскиз на исходной фотографии школьного коридор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Изображение проект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969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42238">
              <a:alpha val="88000"/>
            </a:srgbClr>
          </a:solidFill>
          <a:ln w="635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58800" y="406400"/>
            <a:ext cx="292100" cy="292100"/>
          </a:xfrm>
          <a:prstGeom prst="roundRect">
            <a:avLst>
              <a:gd name="adj" fmla="val 22000"/>
            </a:avLst>
          </a:prstGeom>
          <a:solidFill>
            <a:srgbClr val="FF7449"/>
          </a:solidFill>
          <a:ln w="6350">
            <a:solidFill>
              <a:srgbClr val="FF7449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46430" y="476504"/>
            <a:ext cx="40894" cy="151892"/>
          </a:xfrm>
          <a:prstGeom prst="roundRect">
            <a:avLst>
              <a:gd name="adj" fmla="val 21429"/>
            </a:avLst>
          </a:prstGeom>
          <a:solidFill>
            <a:srgbClr val="142238"/>
          </a:solidFill>
          <a:ln w="635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25297" y="476504"/>
            <a:ext cx="40894" cy="151892"/>
          </a:xfrm>
          <a:prstGeom prst="roundRect">
            <a:avLst>
              <a:gd name="adj" fmla="val 21429"/>
            </a:avLst>
          </a:prstGeom>
          <a:solidFill>
            <a:srgbClr val="142238"/>
          </a:solidFill>
          <a:ln w="635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58850" y="438150"/>
            <a:ext cx="260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931"/>
              </a:lnSpc>
              <a:buNone/>
            </a:pPr>
            <a:r>
              <a:rPr lang="ru-RU" alt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ПЕРЕМЕНА+</a:t>
            </a:r>
            <a:endParaRPr lang="ru-RU" sz="1450" dirty="0"/>
          </a:p>
        </p:txBody>
      </p:sp>
      <p:sp>
        <p:nvSpPr>
          <p:cNvPr id="9" name="Text 5"/>
          <p:cNvSpPr/>
          <p:nvPr/>
        </p:nvSpPr>
        <p:spPr>
          <a:xfrm>
            <a:off x="10731500" y="457200"/>
            <a:ext cx="889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826"/>
              </a:lnSpc>
              <a:buNone/>
            </a:pPr>
            <a:r>
              <a:rPr lang="ru-RU" alt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06</a:t>
            </a:r>
            <a:endParaRPr lang="ru-RU" sz="1150" dirty="0"/>
          </a:p>
        </p:txBody>
      </p:sp>
      <p:sp>
        <p:nvSpPr>
          <p:cNvPr id="10" name="Text 6"/>
          <p:cNvSpPr/>
          <p:nvPr/>
        </p:nvSpPr>
        <p:spPr>
          <a:xfrm>
            <a:off x="558800" y="1149350"/>
            <a:ext cx="71437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19"/>
              </a:lnSpc>
              <a:buNone/>
            </a:pPr>
            <a:r>
              <a:rPr lang="ru-RU" alt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ТОТ ЖЕ</a:t>
            </a:r>
            <a:endParaRPr lang="ru-RU" sz="5300" dirty="0"/>
          </a:p>
        </p:txBody>
      </p:sp>
      <p:sp>
        <p:nvSpPr>
          <p:cNvPr id="11" name="Text 7"/>
          <p:cNvSpPr/>
          <p:nvPr/>
        </p:nvSpPr>
        <p:spPr>
          <a:xfrm>
            <a:off x="558800" y="1866900"/>
            <a:ext cx="7080250" cy="831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19"/>
              </a:lnSpc>
              <a:buNone/>
            </a:pPr>
            <a:r>
              <a:rPr lang="ru-RU" alt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КОРИДОР.</a:t>
            </a:r>
            <a:endParaRPr lang="ru-RU" sz="5300" dirty="0"/>
          </a:p>
        </p:txBody>
      </p:sp>
      <p:sp>
        <p:nvSpPr>
          <p:cNvPr id="12" name="Text 8"/>
          <p:cNvSpPr/>
          <p:nvPr/>
        </p:nvSpPr>
        <p:spPr>
          <a:xfrm>
            <a:off x="558800" y="2787650"/>
            <a:ext cx="73533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971"/>
              </a:lnSpc>
              <a:buNone/>
            </a:pPr>
            <a:r>
              <a:rPr lang="ru-RU" altLang="en-US" sz="3450" b="1" dirty="0">
                <a:solidFill>
                  <a:srgbClr val="E5F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ДРУГАЯ ПЕРЕМЕНА.</a:t>
            </a:r>
            <a:endParaRPr lang="ru-RU" sz="3450" dirty="0"/>
          </a:p>
        </p:txBody>
      </p:sp>
      <p:sp>
        <p:nvSpPr>
          <p:cNvPr id="13" name="Shape 9"/>
          <p:cNvSpPr/>
          <p:nvPr/>
        </p:nvSpPr>
        <p:spPr>
          <a:xfrm rot="120000">
            <a:off x="8553450" y="1009650"/>
            <a:ext cx="3092450" cy="1911350"/>
          </a:xfrm>
          <a:prstGeom prst="rect">
            <a:avLst/>
          </a:prstGeom>
          <a:solidFill>
            <a:srgbClr val="FFF9F0"/>
          </a:solidFill>
          <a:ln w="6350">
            <a:solidFill>
              <a:srgbClr val="FFF9F0">
                <a:alpha val="0"/>
              </a:srgbClr>
            </a:solidFill>
            <a:prstDash val="solid"/>
          </a:ln>
        </p:spPr>
      </p:sp>
      <p:pic>
        <p:nvPicPr>
          <p:cNvPr id="14" name="Image 2" descr="Изображение проект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400" y="1117600"/>
            <a:ext cx="2876550" cy="13271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705850" y="2571750"/>
            <a:ext cx="278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77"/>
              </a:lnSpc>
              <a:buNone/>
            </a:pPr>
            <a:r>
              <a:rPr lang="ru-RU" altLang="en-US" sz="130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· ИСХОДНОЕ ФОТО</a:t>
            </a:r>
            <a:endParaRPr lang="ru-RU" sz="1300" dirty="0"/>
          </a:p>
        </p:txBody>
      </p:sp>
      <p:sp>
        <p:nvSpPr>
          <p:cNvPr id="16" name="Shape 11"/>
          <p:cNvSpPr/>
          <p:nvPr/>
        </p:nvSpPr>
        <p:spPr>
          <a:xfrm>
            <a:off x="558800" y="5302250"/>
            <a:ext cx="4610100" cy="850900"/>
          </a:xfrm>
          <a:prstGeom prst="roundRect">
            <a:avLst>
              <a:gd name="adj" fmla="val 17910"/>
            </a:avLst>
          </a:prstGeom>
          <a:solidFill>
            <a:srgbClr val="FFF9F0"/>
          </a:solidFill>
          <a:ln w="6350">
            <a:solidFill>
              <a:srgbClr val="FFF9F0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42950" y="5448300"/>
            <a:ext cx="421005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49"/>
              </a:lnSpc>
              <a:buNone/>
            </a:pPr>
            <a:r>
              <a:rPr lang="ru-RU" altLang="en-US" sz="205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ИЗ 10 ПУФОВ</a:t>
            </a:r>
            <a:endParaRPr lang="ru-RU" sz="2050" dirty="0"/>
          </a:p>
        </p:txBody>
      </p:sp>
      <p:sp>
        <p:nvSpPr>
          <p:cNvPr id="18" name="Text 13"/>
          <p:cNvSpPr/>
          <p:nvPr/>
        </p:nvSpPr>
        <p:spPr>
          <a:xfrm>
            <a:off x="755650" y="5842000"/>
            <a:ext cx="421005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148"/>
              </a:lnSpc>
              <a:buNone/>
            </a:pPr>
            <a:r>
              <a:rPr lang="ru-RU" altLang="en-US" sz="1350" dirty="0">
                <a:solidFill>
                  <a:srgbClr val="6974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Показана часть проекта</a:t>
            </a:r>
            <a:endParaRPr lang="ru-RU" sz="1350" dirty="0"/>
          </a:p>
        </p:txBody>
      </p:sp>
      <p:sp>
        <p:nvSpPr>
          <p:cNvPr id="19" name="Text 14"/>
          <p:cNvSpPr/>
          <p:nvPr/>
        </p:nvSpPr>
        <p:spPr>
          <a:xfrm>
            <a:off x="558800" y="6546850"/>
            <a:ext cx="10731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182"/>
              </a:lnSpc>
              <a:buNone/>
            </a:pPr>
            <a:r>
              <a:rPr lang="ru-RU" alt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Эскиз на фото школы. Масштаб условный; места и перенос столов согласуем после замеров.</a:t>
            </a:r>
            <a:endParaRPr lang="ru-RU" sz="1100" dirty="0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800" y="406400"/>
            <a:ext cx="292100" cy="292100"/>
          </a:xfrm>
          <a:prstGeom prst="roundRect">
            <a:avLst>
              <a:gd name="adj" fmla="val 22000"/>
            </a:avLst>
          </a:prstGeom>
          <a:solidFill>
            <a:srgbClr val="FF7449"/>
          </a:solidFill>
          <a:ln w="6350">
            <a:solidFill>
              <a:srgbClr val="FF744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6430" y="476504"/>
            <a:ext cx="40894" cy="151892"/>
          </a:xfrm>
          <a:prstGeom prst="roundRect">
            <a:avLst>
              <a:gd name="adj" fmla="val 21429"/>
            </a:avLst>
          </a:prstGeom>
          <a:solidFill>
            <a:srgbClr val="142238"/>
          </a:solidFill>
          <a:ln w="635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5297" y="476504"/>
            <a:ext cx="40894" cy="151892"/>
          </a:xfrm>
          <a:prstGeom prst="roundRect">
            <a:avLst>
              <a:gd name="adj" fmla="val 21429"/>
            </a:avLst>
          </a:prstGeom>
          <a:solidFill>
            <a:srgbClr val="142238"/>
          </a:solidFill>
          <a:ln w="635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8850" y="438150"/>
            <a:ext cx="260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931"/>
              </a:lnSpc>
              <a:buNone/>
            </a:pPr>
            <a:r>
              <a:rPr lang="ru-RU" alt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ПЕРЕМЕНА+</a:t>
            </a:r>
            <a:endParaRPr lang="ru-RU" sz="1450" dirty="0"/>
          </a:p>
        </p:txBody>
      </p:sp>
      <p:sp>
        <p:nvSpPr>
          <p:cNvPr id="6" name="Text 4"/>
          <p:cNvSpPr/>
          <p:nvPr/>
        </p:nvSpPr>
        <p:spPr>
          <a:xfrm>
            <a:off x="10731500" y="457200"/>
            <a:ext cx="889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826"/>
              </a:lnSpc>
              <a:buNone/>
            </a:pPr>
            <a:r>
              <a:rPr lang="ru-RU" alt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06</a:t>
            </a:r>
            <a:endParaRPr lang="ru-RU" sz="1150" dirty="0"/>
          </a:p>
        </p:txBody>
      </p:sp>
      <p:sp>
        <p:nvSpPr>
          <p:cNvPr id="7" name="Text 5"/>
          <p:cNvSpPr/>
          <p:nvPr/>
        </p:nvSpPr>
        <p:spPr>
          <a:xfrm>
            <a:off x="558800" y="1098550"/>
            <a:ext cx="111125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20"/>
              </a:lnSpc>
              <a:buNone/>
            </a:pPr>
            <a:r>
              <a:rPr lang="ru-RU" altLang="en-US" sz="5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ПОКУПКА ОДНА.</a:t>
            </a:r>
            <a:endParaRPr lang="ru-RU" sz="5050" dirty="0"/>
          </a:p>
        </p:txBody>
      </p:sp>
      <p:sp>
        <p:nvSpPr>
          <p:cNvPr id="8" name="Text 6"/>
          <p:cNvSpPr/>
          <p:nvPr/>
        </p:nvSpPr>
        <p:spPr>
          <a:xfrm>
            <a:off x="558800" y="1816100"/>
            <a:ext cx="111125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20"/>
              </a:lnSpc>
              <a:buNone/>
            </a:pPr>
            <a:r>
              <a:rPr lang="ru-RU" altLang="en-US" sz="5050" b="1" dirty="0">
                <a:solidFill>
                  <a:srgbClr val="E5F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 — МНОГО.</a:t>
            </a:r>
            <a:endParaRPr lang="ru-RU" sz="5050" dirty="0"/>
          </a:p>
        </p:txBody>
      </p:sp>
      <p:sp>
        <p:nvSpPr>
          <p:cNvPr id="9" name="Text 7"/>
          <p:cNvSpPr/>
          <p:nvPr/>
        </p:nvSpPr>
        <p:spPr>
          <a:xfrm>
            <a:off x="558800" y="2717800"/>
            <a:ext cx="1111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108"/>
              </a:lnSpc>
              <a:buNone/>
            </a:pPr>
            <a:r>
              <a:rPr lang="ru-RU" altLang="en-US" sz="1850" dirty="0">
                <a:solidFill>
                  <a:srgbClr val="DF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Десять мест — для разных учеников в течение дня.</a:t>
            </a:r>
            <a:endParaRPr lang="ru-RU" sz="1850" dirty="0"/>
          </a:p>
        </p:txBody>
      </p:sp>
      <p:pic>
        <p:nvPicPr>
          <p:cNvPr id="10" name="Image 0" descr="Изображение проект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900" y="3663950"/>
            <a:ext cx="1041400" cy="6540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3450" y="4375150"/>
            <a:ext cx="36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182"/>
              </a:lnSpc>
              <a:buNone/>
            </a:pPr>
            <a:r>
              <a:rPr lang="ru-RU" altLang="en-US" sz="1100" b="1" dirty="0">
                <a:solidFill>
                  <a:srgbClr val="DF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ru-RU" sz="1100" dirty="0"/>
          </a:p>
        </p:txBody>
      </p:sp>
      <p:pic>
        <p:nvPicPr>
          <p:cNvPr id="12" name="Image 1" descr="Изображение проект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3663950"/>
            <a:ext cx="1041400" cy="6540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01850" y="4375150"/>
            <a:ext cx="36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182"/>
              </a:lnSpc>
              <a:buNone/>
            </a:pPr>
            <a:r>
              <a:rPr lang="ru-RU" altLang="en-US" sz="1100" b="1" dirty="0">
                <a:solidFill>
                  <a:srgbClr val="DF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ru-RU" sz="1100" dirty="0"/>
          </a:p>
        </p:txBody>
      </p:sp>
      <p:pic>
        <p:nvPicPr>
          <p:cNvPr id="14" name="Image 2" descr="Изображение проект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700" y="3663950"/>
            <a:ext cx="1041400" cy="6540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70250" y="4375150"/>
            <a:ext cx="36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182"/>
              </a:lnSpc>
              <a:buNone/>
            </a:pPr>
            <a:r>
              <a:rPr lang="ru-RU" altLang="en-US" sz="1100" b="1" dirty="0">
                <a:solidFill>
                  <a:srgbClr val="DF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ru-RU" sz="1100" dirty="0"/>
          </a:p>
        </p:txBody>
      </p:sp>
      <p:pic>
        <p:nvPicPr>
          <p:cNvPr id="16" name="Image 3" descr="Изображение проект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2100" y="3663950"/>
            <a:ext cx="1041400" cy="6540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38650" y="4375150"/>
            <a:ext cx="36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182"/>
              </a:lnSpc>
              <a:buNone/>
            </a:pPr>
            <a:r>
              <a:rPr lang="ru-RU" altLang="en-US" sz="1100" b="1" dirty="0">
                <a:solidFill>
                  <a:srgbClr val="DF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ru-RU" sz="1100" dirty="0"/>
          </a:p>
        </p:txBody>
      </p:sp>
      <p:pic>
        <p:nvPicPr>
          <p:cNvPr id="18" name="Image 4" descr="Изображение проекта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3663950"/>
            <a:ext cx="1041400" cy="6540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607050" y="4375150"/>
            <a:ext cx="36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182"/>
              </a:lnSpc>
              <a:buNone/>
            </a:pPr>
            <a:r>
              <a:rPr lang="ru-RU" altLang="en-US" sz="1100" b="1" dirty="0">
                <a:solidFill>
                  <a:srgbClr val="DF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ru-RU" sz="1100" dirty="0"/>
          </a:p>
        </p:txBody>
      </p:sp>
      <p:pic>
        <p:nvPicPr>
          <p:cNvPr id="20" name="Image 5" descr="Изображение проекта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900" y="4743450"/>
            <a:ext cx="1041400" cy="6540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33450" y="5454650"/>
            <a:ext cx="36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182"/>
              </a:lnSpc>
              <a:buNone/>
            </a:pPr>
            <a:r>
              <a:rPr lang="ru-RU" altLang="en-US" sz="1100" b="1" dirty="0">
                <a:solidFill>
                  <a:srgbClr val="DF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ru-RU" sz="1100" dirty="0"/>
          </a:p>
        </p:txBody>
      </p:sp>
      <p:pic>
        <p:nvPicPr>
          <p:cNvPr id="22" name="Image 6" descr="Изображение проекта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5300" y="4743450"/>
            <a:ext cx="1041400" cy="65405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2101850" y="5454650"/>
            <a:ext cx="36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182"/>
              </a:lnSpc>
              <a:buNone/>
            </a:pPr>
            <a:r>
              <a:rPr lang="ru-RU" altLang="en-US" sz="1100" b="1" dirty="0">
                <a:solidFill>
                  <a:srgbClr val="DF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ru-RU" sz="1100" dirty="0"/>
          </a:p>
        </p:txBody>
      </p:sp>
      <p:pic>
        <p:nvPicPr>
          <p:cNvPr id="24" name="Image 7" descr="Изображение проекта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3700" y="4743450"/>
            <a:ext cx="1041400" cy="65405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270250" y="5454650"/>
            <a:ext cx="36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182"/>
              </a:lnSpc>
              <a:buNone/>
            </a:pPr>
            <a:r>
              <a:rPr lang="ru-RU" altLang="en-US" sz="1100" b="1" dirty="0">
                <a:solidFill>
                  <a:srgbClr val="DF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ru-RU" sz="1100" dirty="0"/>
          </a:p>
        </p:txBody>
      </p:sp>
      <p:pic>
        <p:nvPicPr>
          <p:cNvPr id="26" name="Image 8" descr="Изображение проекта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02100" y="4743450"/>
            <a:ext cx="1041400" cy="65405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4438650" y="5454650"/>
            <a:ext cx="36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182"/>
              </a:lnSpc>
              <a:buNone/>
            </a:pPr>
            <a:r>
              <a:rPr lang="ru-RU" altLang="en-US" sz="1100" b="1" dirty="0">
                <a:solidFill>
                  <a:srgbClr val="DF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ru-RU" sz="1100" dirty="0"/>
          </a:p>
        </p:txBody>
      </p:sp>
      <p:pic>
        <p:nvPicPr>
          <p:cNvPr id="28" name="Image 9" descr="Изображение проекта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70500" y="4743450"/>
            <a:ext cx="1041400" cy="65405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607050" y="5454650"/>
            <a:ext cx="36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182"/>
              </a:lnSpc>
              <a:buNone/>
            </a:pPr>
            <a:r>
              <a:rPr lang="ru-RU" altLang="en-US" sz="1100" b="1" dirty="0">
                <a:solidFill>
                  <a:srgbClr val="DF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ru-RU" sz="1100" dirty="0"/>
          </a:p>
        </p:txBody>
      </p:sp>
      <p:sp>
        <p:nvSpPr>
          <p:cNvPr id="30" name="Shape 18"/>
          <p:cNvSpPr/>
          <p:nvPr/>
        </p:nvSpPr>
        <p:spPr>
          <a:xfrm>
            <a:off x="6788150" y="3371850"/>
            <a:ext cx="19050" cy="2343150"/>
          </a:xfrm>
          <a:prstGeom prst="rect">
            <a:avLst/>
          </a:prstGeom>
          <a:solidFill>
            <a:srgbClr val="DFE6EF">
              <a:alpha val="30000"/>
            </a:srgbClr>
          </a:solidFill>
          <a:ln w="6350">
            <a:solidFill>
              <a:srgbClr val="DFE6EF">
                <a:alpha val="0"/>
              </a:srgbClr>
            </a:solidFill>
            <a:prstDash val="solid"/>
          </a:ln>
        </p:spPr>
      </p:sp>
      <p:sp>
        <p:nvSpPr>
          <p:cNvPr id="31" name="Text 19"/>
          <p:cNvSpPr/>
          <p:nvPr/>
        </p:nvSpPr>
        <p:spPr>
          <a:xfrm>
            <a:off x="7245350" y="3359150"/>
            <a:ext cx="43434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931"/>
              </a:lnSpc>
              <a:buNone/>
            </a:pPr>
            <a:r>
              <a:rPr lang="ru-RU" alt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× 75 €* =</a:t>
            </a:r>
            <a:endParaRPr lang="ru-RU" sz="2900" dirty="0"/>
          </a:p>
        </p:txBody>
      </p:sp>
      <p:sp>
        <p:nvSpPr>
          <p:cNvPr id="32" name="Text 20"/>
          <p:cNvSpPr/>
          <p:nvPr/>
        </p:nvSpPr>
        <p:spPr>
          <a:xfrm>
            <a:off x="7137400" y="3867150"/>
            <a:ext cx="4445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975"/>
              </a:lnSpc>
              <a:buNone/>
            </a:pPr>
            <a:r>
              <a:rPr lang="ru-RU" altLang="en-US" sz="7900" b="1" dirty="0">
                <a:solidFill>
                  <a:srgbClr val="E5F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750 €</a:t>
            </a:r>
            <a:endParaRPr lang="ru-RU" sz="7900" dirty="0"/>
          </a:p>
        </p:txBody>
      </p:sp>
      <p:sp>
        <p:nvSpPr>
          <p:cNvPr id="33" name="Text 21"/>
          <p:cNvSpPr/>
          <p:nvPr/>
        </p:nvSpPr>
        <p:spPr>
          <a:xfrm>
            <a:off x="7264400" y="5181600"/>
            <a:ext cx="189230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25"/>
              </a:lnSpc>
              <a:buNone/>
            </a:pPr>
            <a:r>
              <a:rPr lang="ru-RU" altLang="en-US" sz="4050" b="1" dirty="0">
                <a:solidFill>
                  <a:srgbClr val="FF7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50 €</a:t>
            </a:r>
            <a:endParaRPr lang="ru-RU" sz="4050" dirty="0"/>
          </a:p>
        </p:txBody>
      </p:sp>
      <p:sp>
        <p:nvSpPr>
          <p:cNvPr id="34" name="Text 22"/>
          <p:cNvSpPr/>
          <p:nvPr/>
        </p:nvSpPr>
        <p:spPr>
          <a:xfrm>
            <a:off x="9232900" y="5213350"/>
            <a:ext cx="238125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706"/>
              </a:lnSpc>
              <a:buNone/>
            </a:pPr>
            <a:r>
              <a:rPr lang="ru-RU" alt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остаётся</a:t>
            </a:r>
            <a:endParaRPr lang="ru-RU" sz="1700" dirty="0"/>
          </a:p>
          <a:p>
            <a:pPr algn="l" indent="0" marL="0">
              <a:lnSpc>
                <a:spcPct val="114706"/>
              </a:lnSpc>
              <a:buNone/>
            </a:pPr>
            <a:r>
              <a:rPr lang="ru-RU" alt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резерве</a:t>
            </a:r>
            <a:endParaRPr lang="ru-RU" sz="1700" dirty="0"/>
          </a:p>
        </p:txBody>
      </p:sp>
      <p:sp>
        <p:nvSpPr>
          <p:cNvPr id="35" name="Shape 23"/>
          <p:cNvSpPr/>
          <p:nvPr/>
        </p:nvSpPr>
        <p:spPr>
          <a:xfrm>
            <a:off x="558800" y="5937250"/>
            <a:ext cx="11074400" cy="146050"/>
          </a:xfrm>
          <a:prstGeom prst="roundRect">
            <a:avLst>
              <a:gd name="adj" fmla="val 47826"/>
            </a:avLst>
          </a:prstGeom>
          <a:solidFill>
            <a:srgbClr val="FF7449"/>
          </a:solidFill>
          <a:ln w="6350">
            <a:solidFill>
              <a:srgbClr val="FF7449">
                <a:alpha val="0"/>
              </a:srgbClr>
            </a:solidFill>
            <a:prstDash val="solid"/>
          </a:ln>
        </p:spPr>
      </p:sp>
      <p:sp>
        <p:nvSpPr>
          <p:cNvPr id="36" name="Shape 24"/>
          <p:cNvSpPr/>
          <p:nvPr/>
        </p:nvSpPr>
        <p:spPr>
          <a:xfrm>
            <a:off x="558800" y="5937250"/>
            <a:ext cx="10382250" cy="146050"/>
          </a:xfrm>
          <a:prstGeom prst="roundRect">
            <a:avLst>
              <a:gd name="adj" fmla="val 47826"/>
            </a:avLst>
          </a:prstGeom>
          <a:solidFill>
            <a:srgbClr val="E5FF7A"/>
          </a:solidFill>
          <a:ln w="6350">
            <a:solidFill>
              <a:srgbClr val="E5FF7A">
                <a:alpha val="0"/>
              </a:srgbClr>
            </a:solidFill>
            <a:prstDash val="solid"/>
          </a:ln>
        </p:spPr>
      </p:sp>
      <p:sp>
        <p:nvSpPr>
          <p:cNvPr id="37" name="Text 25"/>
          <p:cNvSpPr/>
          <p:nvPr/>
        </p:nvSpPr>
        <p:spPr>
          <a:xfrm>
            <a:off x="558800" y="6254750"/>
            <a:ext cx="454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895"/>
              </a:lnSpc>
              <a:buNone/>
            </a:pPr>
            <a:r>
              <a:rPr lang="ru-RU" alt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800 € — лимит проекта</a:t>
            </a:r>
            <a:endParaRPr lang="ru-RU" sz="1900" dirty="0"/>
          </a:p>
        </p:txBody>
      </p:sp>
      <p:sp>
        <p:nvSpPr>
          <p:cNvPr id="38" name="Text 26"/>
          <p:cNvSpPr/>
          <p:nvPr/>
        </p:nvSpPr>
        <p:spPr>
          <a:xfrm>
            <a:off x="6121400" y="6318250"/>
            <a:ext cx="5511800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7391"/>
              </a:lnSpc>
              <a:buNone/>
            </a:pPr>
            <a:r>
              <a:rPr lang="ru-RU" altLang="en-US" sz="1150" dirty="0">
                <a:solidFill>
                  <a:srgbClr val="DF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Расчёт по цене на скриншоте. Итоговую</a:t>
            </a:r>
            <a:endParaRPr lang="ru-RU" sz="1150" dirty="0"/>
          </a:p>
          <a:p>
            <a:pPr algn="r" indent="0" marL="0">
              <a:lnSpc>
                <a:spcPct val="117391"/>
              </a:lnSpc>
              <a:buNone/>
            </a:pPr>
            <a:r>
              <a:rPr lang="ru-RU" altLang="en-US" sz="1150" dirty="0">
                <a:solidFill>
                  <a:srgbClr val="DF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и доставку подтвердим до заказа.</a:t>
            </a:r>
            <a:endParaRPr lang="ru-RU" sz="1150" dirty="0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Визуальный образ проекта, не фотография школ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1650" y="0"/>
            <a:ext cx="534035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97650" y="0"/>
            <a:ext cx="254000" cy="6858000"/>
          </a:xfrm>
          <a:prstGeom prst="rect">
            <a:avLst/>
          </a:prstGeom>
          <a:solidFill>
            <a:srgbClr val="335CFF"/>
          </a:solidFill>
          <a:ln w="6350">
            <a:solidFill>
              <a:srgbClr val="335C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58800" y="406400"/>
            <a:ext cx="292100" cy="292100"/>
          </a:xfrm>
          <a:prstGeom prst="roundRect">
            <a:avLst>
              <a:gd name="adj" fmla="val 22000"/>
            </a:avLst>
          </a:prstGeom>
          <a:solidFill>
            <a:srgbClr val="FF7449"/>
          </a:solidFill>
          <a:ln w="6350">
            <a:solidFill>
              <a:srgbClr val="FF7449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6430" y="476504"/>
            <a:ext cx="40894" cy="151892"/>
          </a:xfrm>
          <a:prstGeom prst="roundRect">
            <a:avLst>
              <a:gd name="adj" fmla="val 21429"/>
            </a:avLst>
          </a:prstGeom>
          <a:solidFill>
            <a:srgbClr val="142238"/>
          </a:solidFill>
          <a:ln w="635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5297" y="476504"/>
            <a:ext cx="40894" cy="151892"/>
          </a:xfrm>
          <a:prstGeom prst="roundRect">
            <a:avLst>
              <a:gd name="adj" fmla="val 21429"/>
            </a:avLst>
          </a:prstGeom>
          <a:solidFill>
            <a:srgbClr val="142238"/>
          </a:solidFill>
          <a:ln w="635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8850" y="438150"/>
            <a:ext cx="260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931"/>
              </a:lnSpc>
              <a:buNone/>
            </a:pPr>
            <a:r>
              <a:rPr lang="ru-RU" altLang="en-US" sz="145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ПЕРЕМЕНА+</a:t>
            </a:r>
            <a:endParaRPr lang="ru-RU" sz="1450" dirty="0"/>
          </a:p>
        </p:txBody>
      </p:sp>
      <p:sp>
        <p:nvSpPr>
          <p:cNvPr id="8" name="Text 5"/>
          <p:cNvSpPr/>
          <p:nvPr/>
        </p:nvSpPr>
        <p:spPr>
          <a:xfrm>
            <a:off x="10731500" y="457200"/>
            <a:ext cx="889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826"/>
              </a:lnSpc>
              <a:buNone/>
            </a:pPr>
            <a:r>
              <a:rPr lang="ru-RU" altLang="en-US" sz="115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06</a:t>
            </a:r>
            <a:endParaRPr lang="ru-RU" sz="1150" dirty="0"/>
          </a:p>
        </p:txBody>
      </p:sp>
      <p:sp>
        <p:nvSpPr>
          <p:cNvPr id="9" name="Shape 6"/>
          <p:cNvSpPr/>
          <p:nvPr/>
        </p:nvSpPr>
        <p:spPr>
          <a:xfrm>
            <a:off x="10414000" y="311150"/>
            <a:ext cx="1327150" cy="488950"/>
          </a:xfrm>
          <a:prstGeom prst="roundRect">
            <a:avLst>
              <a:gd name="adj" fmla="val 49351"/>
            </a:avLst>
          </a:prstGeom>
          <a:solidFill>
            <a:srgbClr val="142238">
              <a:alpha val="86000"/>
            </a:srgbClr>
          </a:solidFill>
          <a:ln w="635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98150" y="444500"/>
            <a:ext cx="92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917"/>
              </a:lnSpc>
              <a:buNone/>
            </a:pPr>
            <a:r>
              <a:rPr lang="ru-RU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06</a:t>
            </a:r>
            <a:endParaRPr lang="ru-RU" sz="1200" dirty="0"/>
          </a:p>
        </p:txBody>
      </p:sp>
      <p:sp>
        <p:nvSpPr>
          <p:cNvPr id="11" name="Text 8"/>
          <p:cNvSpPr/>
          <p:nvPr/>
        </p:nvSpPr>
        <p:spPr>
          <a:xfrm>
            <a:off x="558800" y="1219200"/>
            <a:ext cx="5962650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963"/>
              </a:lnSpc>
              <a:buNone/>
            </a:pPr>
            <a:r>
              <a:rPr lang="ru-RU" altLang="en-US" sz="540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ДАВАЙТЕ</a:t>
            </a:r>
            <a:endParaRPr lang="ru-RU" sz="5400" dirty="0"/>
          </a:p>
        </p:txBody>
      </p:sp>
      <p:sp>
        <p:nvSpPr>
          <p:cNvPr id="12" name="Text 9"/>
          <p:cNvSpPr/>
          <p:nvPr/>
        </p:nvSpPr>
        <p:spPr>
          <a:xfrm>
            <a:off x="558800" y="1981200"/>
            <a:ext cx="5930900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963"/>
              </a:lnSpc>
              <a:buNone/>
            </a:pPr>
            <a:r>
              <a:rPr lang="ru-RU" altLang="en-US" sz="540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ДАДИМ</a:t>
            </a:r>
            <a:endParaRPr lang="ru-RU" sz="5400" dirty="0"/>
          </a:p>
        </p:txBody>
      </p:sp>
      <p:sp>
        <p:nvSpPr>
          <p:cNvPr id="13" name="Text 10"/>
          <p:cNvSpPr/>
          <p:nvPr/>
        </p:nvSpPr>
        <p:spPr>
          <a:xfrm>
            <a:off x="558800" y="2743200"/>
            <a:ext cx="60515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961"/>
              </a:lnSpc>
              <a:buNone/>
            </a:pPr>
            <a:r>
              <a:rPr lang="ru-RU" altLang="en-US" sz="5150" b="1" dirty="0">
                <a:solidFill>
                  <a:srgbClr val="33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ПЕРЕМЕНЕ</a:t>
            </a:r>
            <a:endParaRPr lang="ru-RU" sz="5150" dirty="0"/>
          </a:p>
        </p:txBody>
      </p:sp>
      <p:sp>
        <p:nvSpPr>
          <p:cNvPr id="14" name="Text 11"/>
          <p:cNvSpPr/>
          <p:nvPr/>
        </p:nvSpPr>
        <p:spPr>
          <a:xfrm>
            <a:off x="558800" y="3505200"/>
            <a:ext cx="60896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ru-RU" altLang="en-US" sz="475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СВОЁ МЕСТО.</a:t>
            </a:r>
            <a:endParaRPr lang="ru-RU" sz="4750" dirty="0"/>
          </a:p>
        </p:txBody>
      </p:sp>
      <p:sp>
        <p:nvSpPr>
          <p:cNvPr id="15" name="Shape 12"/>
          <p:cNvSpPr/>
          <p:nvPr/>
        </p:nvSpPr>
        <p:spPr>
          <a:xfrm>
            <a:off x="558800" y="4686300"/>
            <a:ext cx="5588000" cy="692150"/>
          </a:xfrm>
          <a:prstGeom prst="roundRect">
            <a:avLst>
              <a:gd name="adj" fmla="val 21101"/>
            </a:avLst>
          </a:prstGeom>
          <a:solidFill>
            <a:srgbClr val="FF7449"/>
          </a:solidFill>
          <a:ln w="6350">
            <a:solidFill>
              <a:srgbClr val="FF7449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7550" y="4902200"/>
            <a:ext cx="526415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7895"/>
              </a:lnSpc>
              <a:buNone/>
            </a:pPr>
            <a:r>
              <a:rPr lang="ru-RU" altLang="en-US" sz="190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ПОДДЕРЖИТЕ «ПЕРЕМЕНУ+»</a:t>
            </a:r>
            <a:endParaRPr lang="ru-RU" sz="1900" dirty="0"/>
          </a:p>
        </p:txBody>
      </p:sp>
      <p:sp>
        <p:nvSpPr>
          <p:cNvPr id="17" name="Text 14"/>
          <p:cNvSpPr/>
          <p:nvPr/>
        </p:nvSpPr>
        <p:spPr>
          <a:xfrm>
            <a:off x="558800" y="5619750"/>
            <a:ext cx="5867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907"/>
              </a:lnSpc>
              <a:buNone/>
            </a:pPr>
            <a:r>
              <a:rPr lang="ru-RU" altLang="en-US" sz="2150" b="1" dirty="0">
                <a:solidFill>
                  <a:srgbClr val="14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пуфов · 750 € · 50 € резерв</a:t>
            </a:r>
            <a:endParaRPr lang="ru-RU" sz="2150" dirty="0"/>
          </a:p>
        </p:txBody>
      </p:sp>
      <p:sp>
        <p:nvSpPr>
          <p:cNvPr id="18" name="Text 15"/>
          <p:cNvSpPr/>
          <p:nvPr/>
        </p:nvSpPr>
        <p:spPr>
          <a:xfrm>
            <a:off x="558800" y="6178550"/>
            <a:ext cx="5867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429"/>
              </a:lnSpc>
              <a:buNone/>
            </a:pPr>
            <a:r>
              <a:rPr lang="ru-RU" altLang="en-US" sz="1400" dirty="0">
                <a:solidFill>
                  <a:srgbClr val="6974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Замеры → согласование → закупка</a:t>
            </a:r>
            <a:endParaRPr lang="ru-RU" sz="1400" dirty="0"/>
          </a:p>
          <a:p>
            <a:pPr algn="l" indent="0" marL="0">
              <a:lnSpc>
                <a:spcPct val="121429"/>
              </a:lnSpc>
              <a:buNone/>
            </a:pPr>
            <a:r>
              <a:rPr lang="ru-RU" altLang="en-US" sz="1400" dirty="0">
                <a:solidFill>
                  <a:srgbClr val="6974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бережное использование</a:t>
            </a:r>
            <a:endParaRPr lang="ru-RU" sz="1400" dirty="0"/>
          </a:p>
        </p:txBody>
      </p:sp>
      <p:sp>
        <p:nvSpPr>
          <p:cNvPr id="19" name="Shape 16"/>
          <p:cNvSpPr/>
          <p:nvPr/>
        </p:nvSpPr>
        <p:spPr>
          <a:xfrm>
            <a:off x="7194550" y="5022850"/>
            <a:ext cx="4362450" cy="1390650"/>
          </a:xfrm>
          <a:prstGeom prst="roundRect">
            <a:avLst>
              <a:gd name="adj" fmla="val 11872"/>
            </a:avLst>
          </a:prstGeom>
          <a:solidFill>
            <a:srgbClr val="142238">
              <a:alpha val="90000"/>
            </a:srgbClr>
          </a:solidFill>
          <a:ln w="635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29500" y="5213350"/>
            <a:ext cx="38925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516"/>
              </a:lnSpc>
              <a:buNone/>
            </a:pPr>
            <a:r>
              <a:rPr lang="ru-RU" alt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ПРИСЯДЬ.</a:t>
            </a:r>
            <a:endParaRPr lang="ru-RU" sz="3100" dirty="0"/>
          </a:p>
          <a:p>
            <a:pPr algn="l" indent="0" marL="0">
              <a:lnSpc>
                <a:spcPct val="114516"/>
              </a:lnSpc>
              <a:buNone/>
            </a:pPr>
            <a:r>
              <a:rPr lang="ru-RU" alt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ПОГОВОРИМ.</a:t>
            </a:r>
            <a:endParaRPr lang="ru-RU" sz="3100" dirty="0"/>
          </a:p>
        </p:txBody>
      </p:sp>
      <p:sp>
        <p:nvSpPr>
          <p:cNvPr id="21" name="Text 18"/>
          <p:cNvSpPr/>
          <p:nvPr/>
        </p:nvSpPr>
        <p:spPr>
          <a:xfrm>
            <a:off x="7092950" y="6610350"/>
            <a:ext cx="42989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895"/>
              </a:lnSpc>
              <a:buNone/>
            </a:pPr>
            <a:r>
              <a:rPr lang="ru-RU" alt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Визуальный образ проекта</a:t>
            </a:r>
            <a:endParaRPr lang="ru-RU" sz="950" dirty="0"/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Инициатива класса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ПЕРЕМЕНА+ — Звонок прозвенел. Где выдохнуть?</dc:title>
  <dc:subject>Приобретение 10 пуфов в пределах бюджета 800 евро</dc:subject>
  <dc:creator>Школьный проект</dc:creator>
  <cp:lastModifiedBy>Школьный проект</cp:lastModifiedBy>
  <cp:revision>1</cp:revision>
  <dcterms:created xsi:type="dcterms:W3CDTF">2026-10-13T17:55:09Z</dcterms:created>
  <dcterms:modified xsi:type="dcterms:W3CDTF">2026-10-13T17:55:09Z</dcterms:modified>
</cp:coreProperties>
</file>